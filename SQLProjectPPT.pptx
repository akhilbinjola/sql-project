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AvgGrowthRate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dLbl>
              <c:idx val="1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60B-43CF-A297-068D0346ED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12.24</c:v>
                </c:pt>
                <c:pt idx="1">
                  <c:v>9.5399999999999991</c:v>
                </c:pt>
                <c:pt idx="2">
                  <c:v>-9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A-454F-98EE-E19C6729E5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24438832"/>
        <c:axId val="1224439312"/>
      </c:barChart>
      <c:valAx>
        <c:axId val="1224439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438832"/>
        <c:crosses val="autoZero"/>
        <c:crossBetween val="between"/>
      </c:valAx>
      <c:catAx>
        <c:axId val="1224438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4393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TotalProfit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2D9E618-EBC9-404D-B3F8-0BD3523F1C9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C0603799-EFCF-404D-BB3A-3FA9BEB8A43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9432790149317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A3FE-49EB-B6EC-ED56A1BBF96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D0DCA73-3974-4BFC-87D1-3BF44EE6B49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F4A77C5F-63EC-49A3-BCA3-31F1958E258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579565609848528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3FE-49EB-B6EC-ED56A1BBF96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FD8F690-DFDF-4BB2-9DE4-E6DE724BD2E2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09FB8B4B-161C-45FF-A1B7-7D3433BA289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673195689619769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A3FE-49EB-B6EC-ED56A1BBF96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FB47C5-2037-474D-BD3C-5E5651CECCE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FB661CC7-15DF-43FB-A58C-1A7B121F82F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933006556845176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3FE-49EB-B6EC-ED56A1BBF96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722CB0B-B85C-46D9-9DEB-84C2E2835A14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6679DEE4-8108-40EE-9CD4-DF710D71385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361017566367774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A3FE-49EB-B6EC-ED56A1BBF96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794D91F-5831-4089-8752-E749BE6A89CB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37E4117E-1D14-4836-9254-1BE1FE2C366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746506347841949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A3FE-49EB-B6EC-ED56A1BBF96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A986E82-551B-4168-A2BC-EF3408343C3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0FF6A0BB-8F06-4D11-AFE1-8A254F288025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21178926282105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A3FE-49EB-B6EC-ED56A1BBF96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5280E8AB-933E-46A1-AF5A-7B727F761548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656D4AF6-E0F5-4704-A3F4-7370EBF4118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128584438986203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A3FE-49EB-B6EC-ED56A1BBF96E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D7D7645A-BDF6-44A8-9C39-E855D20A47D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8CE3EFF8-11AA-477A-8D72-AED61309AE8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971691337573532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A3FE-49EB-B6EC-ED56A1BBF96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A64D9D9E-0DB3-4A4B-B579-4189697AA0B3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C81759CE-383E-4ABC-A764-0AAFBF67BE5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357083863133516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A3FE-49EB-B6EC-ED56A1BBF96E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A3DC507F-D7CF-49C5-85B8-F4F1FCA5B82D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47919D20-DE2E-4CA7-B4C9-843A87927A7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2635318650828643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A3FE-49EB-B6EC-ED56A1BBF96E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BAD0DBA-3F1E-44D2-B501-A31746C49EA2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B7166B59-598B-442A-BD11-9A69E9B2297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243979798374150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A3FE-49EB-B6EC-ED56A1BBF96E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B027EAEE-A252-44A8-A376-0AC100C05D67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E7210F93-82C2-4E14-8BC5-1A3865DDA13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4662434547661151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A3FE-49EB-B6EC-ED56A1BBF96E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FF76325F-E3EA-4AC1-8C25-DD150585509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0590E0E0-580B-4581-9F8D-E545ACEC8E14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9474200385966018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A3FE-49EB-B6EC-ED56A1BBF96E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1E229E14-9046-497C-9DFE-B17437E8E5E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D97ACBE-7AAB-450F-9B0C-4973E6D6734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148624516448654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A3FE-49EB-B6EC-ED56A1BBF96E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580F6F06-D132-476A-A3EB-B119045D18B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E653855-3836-4E8E-AF39-67ACD41A74E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926315088013583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A3FE-49EB-B6EC-ED56A1BBF96E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BD6D1A8A-054E-4B83-8091-6F9EA21D469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B15CD42E-9CBA-43D3-88A3-835CAE2B496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247475301607473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A3FE-49EB-B6EC-ED56A1BBF96E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495DADD0-6600-44C7-8629-D7410942B4B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3FEDF569-1E76-44A1-8281-25B23EE39E1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220160161763786"/>
                      <c:h val="8.21858911945575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1-A3FE-49EB-B6EC-ED56A1BBF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B</c:v>
                </c:pt>
                <c:pt idx="7">
                  <c:v>B</c:v>
                </c:pt>
                <c:pt idx="8">
                  <c:v>B</c:v>
                </c:pt>
                <c:pt idx="9">
                  <c:v>B</c:v>
                </c:pt>
                <c:pt idx="10">
                  <c:v>B</c:v>
                </c:pt>
                <c:pt idx="11">
                  <c:v>B</c:v>
                </c:pt>
                <c:pt idx="12">
                  <c:v>C</c:v>
                </c:pt>
                <c:pt idx="13">
                  <c:v>C</c:v>
                </c:pt>
                <c:pt idx="14">
                  <c:v>C</c:v>
                </c:pt>
                <c:pt idx="15">
                  <c:v>C</c:v>
                </c:pt>
                <c:pt idx="16">
                  <c:v>C</c:v>
                </c:pt>
                <c:pt idx="17">
                  <c:v>C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1067.49</c:v>
                </c:pt>
                <c:pt idx="1">
                  <c:v>922.51</c:v>
                </c:pt>
                <c:pt idx="2">
                  <c:v>872.24</c:v>
                </c:pt>
                <c:pt idx="3">
                  <c:v>817.29</c:v>
                </c:pt>
                <c:pt idx="4">
                  <c:v>777.74</c:v>
                </c:pt>
                <c:pt idx="5">
                  <c:v>599.89</c:v>
                </c:pt>
                <c:pt idx="6">
                  <c:v>951.82</c:v>
                </c:pt>
                <c:pt idx="7">
                  <c:v>951.46</c:v>
                </c:pt>
                <c:pt idx="8">
                  <c:v>835.67</c:v>
                </c:pt>
                <c:pt idx="9">
                  <c:v>811.97</c:v>
                </c:pt>
                <c:pt idx="10">
                  <c:v>781.59</c:v>
                </c:pt>
                <c:pt idx="11">
                  <c:v>724.52</c:v>
                </c:pt>
                <c:pt idx="12">
                  <c:v>1131.75</c:v>
                </c:pt>
                <c:pt idx="13">
                  <c:v>1026.67</c:v>
                </c:pt>
                <c:pt idx="14">
                  <c:v>903.28</c:v>
                </c:pt>
                <c:pt idx="15">
                  <c:v>791.21</c:v>
                </c:pt>
                <c:pt idx="16">
                  <c:v>750.57</c:v>
                </c:pt>
                <c:pt idx="17">
                  <c:v>661.69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Sheet1!$B$2:$B$19</c15:f>
                <c15:dlblRangeCache>
                  <c:ptCount val="18"/>
                  <c:pt idx="0">
                    <c:v>Home and lifestyle</c:v>
                  </c:pt>
                  <c:pt idx="1">
                    <c:v>Sports and travel</c:v>
                  </c:pt>
                  <c:pt idx="2">
                    <c:v>Electronic accessories</c:v>
                  </c:pt>
                  <c:pt idx="3">
                    <c:v>Food and beverages</c:v>
                  </c:pt>
                  <c:pt idx="4">
                    <c:v>Fashion accessories</c:v>
                  </c:pt>
                  <c:pt idx="5">
                    <c:v>Health and beauty</c:v>
                  </c:pt>
                  <c:pt idx="6">
                    <c:v>Sports and travel</c:v>
                  </c:pt>
                  <c:pt idx="7">
                    <c:v>Health and beauty</c:v>
                  </c:pt>
                  <c:pt idx="8">
                    <c:v>Home and lifestyle</c:v>
                  </c:pt>
                  <c:pt idx="9">
                    <c:v>Electronic accessories</c:v>
                  </c:pt>
                  <c:pt idx="10">
                    <c:v>Fashion accessories</c:v>
                  </c:pt>
                  <c:pt idx="11">
                    <c:v>Food and beverages</c:v>
                  </c:pt>
                  <c:pt idx="12">
                    <c:v>Food and beverages</c:v>
                  </c:pt>
                  <c:pt idx="13">
                    <c:v>Fashion accessories</c:v>
                  </c:pt>
                  <c:pt idx="14">
                    <c:v>Electronic accessories</c:v>
                  </c:pt>
                  <c:pt idx="15">
                    <c:v>Health and beauty</c:v>
                  </c:pt>
                  <c:pt idx="16">
                    <c:v>Sports and travel</c:v>
                  </c:pt>
                  <c:pt idx="17">
                    <c:v>Home and lifestyle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3428-4039-A7AF-628280F74F5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49"/>
        <c:axId val="1448743280"/>
        <c:axId val="1448740880"/>
      </c:barChart>
      <c:catAx>
        <c:axId val="1448743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740880"/>
        <c:crosses val="autoZero"/>
        <c:auto val="1"/>
        <c:lblAlgn val="ctr"/>
        <c:lblOffset val="100"/>
        <c:noMultiLvlLbl val="0"/>
      </c:catAx>
      <c:valAx>
        <c:axId val="1448740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74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AvgSpending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15</c:v>
                </c:pt>
                <c:pt idx="4">
                  <c:v>1</c:v>
                </c:pt>
                <c:pt idx="5">
                  <c:v>12</c:v>
                </c:pt>
                <c:pt idx="6">
                  <c:v>11</c:v>
                </c:pt>
                <c:pt idx="7">
                  <c:v>13</c:v>
                </c:pt>
                <c:pt idx="8">
                  <c:v>14</c:v>
                </c:pt>
                <c:pt idx="9">
                  <c:v>10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  <c:pt idx="13">
                  <c:v>5</c:v>
                </c:pt>
                <c:pt idx="14">
                  <c:v>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397.53</c:v>
                </c:pt>
                <c:pt idx="1">
                  <c:v>349.29</c:v>
                </c:pt>
                <c:pt idx="2">
                  <c:v>349.14</c:v>
                </c:pt>
                <c:pt idx="3">
                  <c:v>343.55</c:v>
                </c:pt>
                <c:pt idx="4">
                  <c:v>337.83</c:v>
                </c:pt>
                <c:pt idx="5">
                  <c:v>329.1</c:v>
                </c:pt>
                <c:pt idx="6">
                  <c:v>324.22000000000003</c:v>
                </c:pt>
                <c:pt idx="7">
                  <c:v>319.14999999999998</c:v>
                </c:pt>
                <c:pt idx="8">
                  <c:v>318.93</c:v>
                </c:pt>
                <c:pt idx="9">
                  <c:v>309.31</c:v>
                </c:pt>
                <c:pt idx="10">
                  <c:v>308.87</c:v>
                </c:pt>
                <c:pt idx="11">
                  <c:v>307.88</c:v>
                </c:pt>
                <c:pt idx="12">
                  <c:v>293.45999999999998</c:v>
                </c:pt>
                <c:pt idx="13">
                  <c:v>293.02</c:v>
                </c:pt>
                <c:pt idx="14">
                  <c:v>263.52999999999997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F-48ED-AF08-E76B6F1BF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0576847"/>
        <c:axId val="1440585007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Spends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Sheet1!$A$2:$A$16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8</c:v>
                      </c:pt>
                      <c:pt idx="1">
                        <c:v>3</c:v>
                      </c:pt>
                      <c:pt idx="2">
                        <c:v>2</c:v>
                      </c:pt>
                      <c:pt idx="3">
                        <c:v>15</c:v>
                      </c:pt>
                      <c:pt idx="4">
                        <c:v>1</c:v>
                      </c:pt>
                      <c:pt idx="5">
                        <c:v>12</c:v>
                      </c:pt>
                      <c:pt idx="6">
                        <c:v>11</c:v>
                      </c:pt>
                      <c:pt idx="7">
                        <c:v>13</c:v>
                      </c:pt>
                      <c:pt idx="8">
                        <c:v>14</c:v>
                      </c:pt>
                      <c:pt idx="9">
                        <c:v>10</c:v>
                      </c:pt>
                      <c:pt idx="10">
                        <c:v>6</c:v>
                      </c:pt>
                      <c:pt idx="11">
                        <c:v>7</c:v>
                      </c:pt>
                      <c:pt idx="12">
                        <c:v>9</c:v>
                      </c:pt>
                      <c:pt idx="13">
                        <c:v>5</c:v>
                      </c:pt>
                      <c:pt idx="14">
                        <c:v>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C03F-48ED-AF08-E76B6F1BF720}"/>
                  </c:ext>
                </c:extLst>
              </c15:ser>
            </c15:filteredBarSeries>
          </c:ext>
        </c:extLst>
      </c:barChart>
      <c:catAx>
        <c:axId val="1440576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Customer</a:t>
                </a:r>
                <a:r>
                  <a:rPr lang="en-IN" baseline="0" dirty="0"/>
                  <a:t> ID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85007"/>
        <c:crosses val="autoZero"/>
        <c:auto val="1"/>
        <c:lblAlgn val="ctr"/>
        <c:lblOffset val="100"/>
        <c:noMultiLvlLbl val="0"/>
      </c:catAx>
      <c:valAx>
        <c:axId val="1440585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err="1"/>
                  <a:t>AVGSpending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76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PowerPoint]Sheet1!PivotTable1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High Anomaly</a:t>
            </a:r>
          </a:p>
        </c:rich>
      </c:tx>
      <c:layout>
        <c:manualLayout>
          <c:xMode val="edge"/>
          <c:yMode val="edge"/>
          <c:x val="0.41184455923188629"/>
          <c:y val="6.08095076574971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8.3981141571776441E-2"/>
          <c:y val="0.21309958639453308"/>
          <c:w val="0.45117276172962362"/>
          <c:h val="0.65047775997659441"/>
        </c:manualLayout>
      </c:layout>
      <c:pieChart>
        <c:varyColors val="1"/>
        <c:ser>
          <c:idx val="0"/>
          <c:order val="0"/>
          <c:tx>
            <c:strRef>
              <c:f>Sheet1!$J$2:$J$3</c:f>
              <c:strCache>
                <c:ptCount val="1"/>
                <c:pt idx="0">
                  <c:v>High Anomaly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CE-4A38-B0EF-5DE601503B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CE-4A38-B0EF-5DE601503B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CE-4A38-B0EF-5DE601503B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8CE-4A38-B0EF-5DE601503BE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8CE-4A38-B0EF-5DE601503BE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8CE-4A38-B0EF-5DE601503B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.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Sheet1!$I$4:$I$10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Sheet1!$J$4:$J$10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12</c:v>
                </c:pt>
                <c:pt idx="3">
                  <c:v>7</c:v>
                </c:pt>
                <c:pt idx="4">
                  <c:v>6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8CE-4A38-B0EF-5DE601503BE3}"/>
            </c:ext>
          </c:extLst>
        </c:ser>
        <c:ser>
          <c:idx val="1"/>
          <c:order val="1"/>
          <c:tx>
            <c:strRef>
              <c:f>Sheet1!$K$2:$K$3</c:f>
              <c:strCache>
                <c:ptCount val="1"/>
                <c:pt idx="0">
                  <c:v>Normal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E8CE-4A38-B0EF-5DE601503B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E8CE-4A38-B0EF-5DE601503B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E8CE-4A38-B0EF-5DE601503B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E8CE-4A38-B0EF-5DE601503BE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E8CE-4A38-B0EF-5DE601503BE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E8CE-4A38-B0EF-5DE601503BE3}"/>
              </c:ext>
            </c:extLst>
          </c:dPt>
          <c:cat>
            <c:strRef>
              <c:f>Sheet1!$I$4:$I$10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Sheet1!$K$4:$K$10</c:f>
              <c:numCache>
                <c:formatCode>General</c:formatCode>
                <c:ptCount val="6"/>
                <c:pt idx="0">
                  <c:v>161</c:v>
                </c:pt>
                <c:pt idx="1">
                  <c:v>169</c:v>
                </c:pt>
                <c:pt idx="2">
                  <c:v>162</c:v>
                </c:pt>
                <c:pt idx="3">
                  <c:v>145</c:v>
                </c:pt>
                <c:pt idx="4">
                  <c:v>154</c:v>
                </c:pt>
                <c:pt idx="5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8CE-4A38-B0EF-5DE601503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339787053045278"/>
          <c:y val="0.24330550697137465"/>
          <c:w val="0.41487003622629015"/>
          <c:h val="0.57568619459463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PaymentCount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Sheet1!$A$2:$B$4</c:f>
              <c:multiLvlStrCache>
                <c:ptCount val="3"/>
                <c:lvl>
                  <c:pt idx="0">
                    <c:v>Ewallet</c:v>
                  </c:pt>
                  <c:pt idx="1">
                    <c:v>Cash</c:v>
                  </c:pt>
                  <c:pt idx="2">
                    <c:v>Ewallet</c:v>
                  </c:pt>
                </c:lvl>
                <c:lvl>
                  <c:pt idx="0">
                    <c:v>Mandalay</c:v>
                  </c:pt>
                  <c:pt idx="1">
                    <c:v>Naypyitaw</c:v>
                  </c:pt>
                  <c:pt idx="2">
                    <c:v>Yangon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113</c:v>
                </c:pt>
                <c:pt idx="1">
                  <c:v>124</c:v>
                </c:pt>
                <c:pt idx="2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64-4DFA-B4D3-58ABAA24AB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40615727"/>
        <c:axId val="1440616687"/>
      </c:barChart>
      <c:catAx>
        <c:axId val="1440615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sng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616687"/>
        <c:crosses val="autoZero"/>
        <c:auto val="1"/>
        <c:lblAlgn val="ctr"/>
        <c:lblOffset val="100"/>
        <c:noMultiLvlLbl val="0"/>
      </c:catAx>
      <c:valAx>
        <c:axId val="144061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u="sng" dirty="0"/>
                  <a:t>Payment 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615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343155394341198E-2"/>
          <c:y val="8.7305922587408227E-2"/>
          <c:w val="0.89151573132549078"/>
          <c:h val="0.669071901117583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Female</c:v>
                </c:pt>
                <c:pt idx="1">
                  <c:v>Male</c:v>
                </c:pt>
                <c:pt idx="2">
                  <c:v>Female</c:v>
                </c:pt>
                <c:pt idx="3">
                  <c:v>Male</c:v>
                </c:pt>
                <c:pt idx="4">
                  <c:v>Female</c:v>
                </c:pt>
                <c:pt idx="5">
                  <c:v>Male</c:v>
                </c:pt>
                <c:pt idx="6">
                  <c:v>Female</c:v>
                </c:pt>
                <c:pt idx="7">
                  <c:v>Male</c:v>
                </c:pt>
                <c:pt idx="8">
                  <c:v>Female</c:v>
                </c:pt>
                <c:pt idx="9">
                  <c:v>Male</c:v>
                </c:pt>
                <c:pt idx="10">
                  <c:v>Female</c:v>
                </c:pt>
                <c:pt idx="11">
                  <c:v>Male</c:v>
                </c:pt>
                <c:pt idx="12">
                  <c:v>Female</c:v>
                </c:pt>
                <c:pt idx="13">
                  <c:v>Male</c:v>
                </c:pt>
                <c:pt idx="14">
                  <c:v>Female</c:v>
                </c:pt>
                <c:pt idx="15">
                  <c:v>Male</c:v>
                </c:pt>
                <c:pt idx="16">
                  <c:v>Female</c:v>
                </c:pt>
                <c:pt idx="17">
                  <c:v>Male</c:v>
                </c:pt>
                <c:pt idx="18">
                  <c:v>Female</c:v>
                </c:pt>
                <c:pt idx="19">
                  <c:v>Male</c:v>
                </c:pt>
                <c:pt idx="20">
                  <c:v>Female</c:v>
                </c:pt>
                <c:pt idx="21">
                  <c:v>Male</c:v>
                </c:pt>
                <c:pt idx="22">
                  <c:v>Female</c:v>
                </c:pt>
                <c:pt idx="23">
                  <c:v>Male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  <c:pt idx="13">
                  <c:v>7</c:v>
                </c:pt>
                <c:pt idx="14">
                  <c:v>8</c:v>
                </c:pt>
                <c:pt idx="15">
                  <c:v>8</c:v>
                </c:pt>
                <c:pt idx="16">
                  <c:v>9</c:v>
                </c:pt>
                <c:pt idx="17">
                  <c:v>9</c:v>
                </c:pt>
                <c:pt idx="18">
                  <c:v>10</c:v>
                </c:pt>
                <c:pt idx="19">
                  <c:v>10</c:v>
                </c:pt>
                <c:pt idx="20">
                  <c:v>11</c:v>
                </c:pt>
                <c:pt idx="21">
                  <c:v>11</c:v>
                </c:pt>
                <c:pt idx="22">
                  <c:v>12</c:v>
                </c:pt>
                <c:pt idx="2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30-4D73-A288-243120103E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Female</c:v>
                </c:pt>
                <c:pt idx="1">
                  <c:v>Male</c:v>
                </c:pt>
                <c:pt idx="2">
                  <c:v>Female</c:v>
                </c:pt>
                <c:pt idx="3">
                  <c:v>Male</c:v>
                </c:pt>
                <c:pt idx="4">
                  <c:v>Female</c:v>
                </c:pt>
                <c:pt idx="5">
                  <c:v>Male</c:v>
                </c:pt>
                <c:pt idx="6">
                  <c:v>Female</c:v>
                </c:pt>
                <c:pt idx="7">
                  <c:v>Male</c:v>
                </c:pt>
                <c:pt idx="8">
                  <c:v>Female</c:v>
                </c:pt>
                <c:pt idx="9">
                  <c:v>Male</c:v>
                </c:pt>
                <c:pt idx="10">
                  <c:v>Female</c:v>
                </c:pt>
                <c:pt idx="11">
                  <c:v>Male</c:v>
                </c:pt>
                <c:pt idx="12">
                  <c:v>Female</c:v>
                </c:pt>
                <c:pt idx="13">
                  <c:v>Male</c:v>
                </c:pt>
                <c:pt idx="14">
                  <c:v>Female</c:v>
                </c:pt>
                <c:pt idx="15">
                  <c:v>Male</c:v>
                </c:pt>
                <c:pt idx="16">
                  <c:v>Female</c:v>
                </c:pt>
                <c:pt idx="17">
                  <c:v>Male</c:v>
                </c:pt>
                <c:pt idx="18">
                  <c:v>Female</c:v>
                </c:pt>
                <c:pt idx="19">
                  <c:v>Male</c:v>
                </c:pt>
                <c:pt idx="20">
                  <c:v>Female</c:v>
                </c:pt>
                <c:pt idx="21">
                  <c:v>Male</c:v>
                </c:pt>
                <c:pt idx="22">
                  <c:v>Female</c:v>
                </c:pt>
                <c:pt idx="23">
                  <c:v>Male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43624.7</c:v>
                </c:pt>
                <c:pt idx="1">
                  <c:v>42937.87</c:v>
                </c:pt>
                <c:pt idx="2">
                  <c:v>38729.910000000003</c:v>
                </c:pt>
                <c:pt idx="3">
                  <c:v>24439.83</c:v>
                </c:pt>
                <c:pt idx="4">
                  <c:v>30503.919999999998</c:v>
                </c:pt>
                <c:pt idx="5">
                  <c:v>42245.33</c:v>
                </c:pt>
                <c:pt idx="6">
                  <c:v>5491</c:v>
                </c:pt>
                <c:pt idx="7">
                  <c:v>2466.63</c:v>
                </c:pt>
                <c:pt idx="8">
                  <c:v>9191.7099999999991</c:v>
                </c:pt>
                <c:pt idx="9">
                  <c:v>3606.98</c:v>
                </c:pt>
                <c:pt idx="10">
                  <c:v>3290.25</c:v>
                </c:pt>
                <c:pt idx="11">
                  <c:v>6321.98</c:v>
                </c:pt>
                <c:pt idx="12">
                  <c:v>5308.93</c:v>
                </c:pt>
                <c:pt idx="13">
                  <c:v>6191.79</c:v>
                </c:pt>
                <c:pt idx="14">
                  <c:v>9795.3799999999992</c:v>
                </c:pt>
                <c:pt idx="15">
                  <c:v>3708.4</c:v>
                </c:pt>
                <c:pt idx="16">
                  <c:v>6414.48</c:v>
                </c:pt>
                <c:pt idx="17">
                  <c:v>7352.8</c:v>
                </c:pt>
                <c:pt idx="18">
                  <c:v>5433.13</c:v>
                </c:pt>
                <c:pt idx="19">
                  <c:v>4432.07</c:v>
                </c:pt>
                <c:pt idx="20">
                  <c:v>5594.36</c:v>
                </c:pt>
                <c:pt idx="21">
                  <c:v>4024.01</c:v>
                </c:pt>
                <c:pt idx="22">
                  <c:v>4505.17</c:v>
                </c:pt>
                <c:pt idx="23">
                  <c:v>7356.13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30-4D73-A288-243120103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524848"/>
        <c:axId val="1646532528"/>
      </c:barChart>
      <c:catAx>
        <c:axId val="164652484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532528"/>
        <c:crosses val="autoZero"/>
        <c:auto val="1"/>
        <c:lblAlgn val="ctr"/>
        <c:lblOffset val="100"/>
        <c:noMultiLvlLbl val="0"/>
      </c:catAx>
      <c:valAx>
        <c:axId val="1646532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524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Sheet1!$A$2:$A$3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B-4A75-9C4C-885F5F4F19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Sheet1!$A$2:$A$3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31357.62</c:v>
                </c:pt>
                <c:pt idx="1">
                  <c:v>29839.040000000001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1B-4A75-9C4C-885F5F4F1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94289680"/>
        <c:axId val="2094298320"/>
        <c:axId val="0"/>
      </c:bar3DChart>
      <c:catAx>
        <c:axId val="209428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298320"/>
        <c:crosses val="autoZero"/>
        <c:auto val="1"/>
        <c:lblAlgn val="ctr"/>
        <c:lblOffset val="100"/>
        <c:noMultiLvlLbl val="0"/>
      </c:catAx>
      <c:valAx>
        <c:axId val="209429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289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Repitition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17</c:v>
                </c:pt>
                <c:pt idx="1">
                  <c:v>20</c:v>
                </c:pt>
                <c:pt idx="2">
                  <c:v>18</c:v>
                </c:pt>
                <c:pt idx="3">
                  <c:v>17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19</c:v>
                </c:pt>
                <c:pt idx="8">
                  <c:v>15</c:v>
                </c:pt>
                <c:pt idx="9">
                  <c:v>20</c:v>
                </c:pt>
                <c:pt idx="10">
                  <c:v>24</c:v>
                </c:pt>
                <c:pt idx="11">
                  <c:v>12</c:v>
                </c:pt>
                <c:pt idx="12">
                  <c:v>20</c:v>
                </c:pt>
                <c:pt idx="13">
                  <c:v>19</c:v>
                </c:pt>
                <c:pt idx="1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2-49C2-924C-66C3C75B3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76533151"/>
        <c:axId val="1276524511"/>
        <c:axId val="0"/>
      </c:bar3DChart>
      <c:catAx>
        <c:axId val="127653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524511"/>
        <c:crosses val="autoZero"/>
        <c:auto val="1"/>
        <c:lblAlgn val="ctr"/>
        <c:lblOffset val="100"/>
        <c:noMultiLvlLbl val="0"/>
      </c:catAx>
      <c:valAx>
        <c:axId val="1276524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53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15</c:v>
                </c:pt>
                <c:pt idx="4">
                  <c:v>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26634.34</c:v>
                </c:pt>
                <c:pt idx="1">
                  <c:v>23402.26</c:v>
                </c:pt>
                <c:pt idx="2">
                  <c:v>23392.28</c:v>
                </c:pt>
                <c:pt idx="3">
                  <c:v>22674.46</c:v>
                </c:pt>
                <c:pt idx="4">
                  <c:v>22634.55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2-49C2-924C-66C3C75B3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76533151"/>
        <c:axId val="1276524511"/>
        <c:axId val="0"/>
      </c:bar3DChart>
      <c:catAx>
        <c:axId val="127653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524511"/>
        <c:crosses val="autoZero"/>
        <c:auto val="1"/>
        <c:lblAlgn val="ctr"/>
        <c:lblOffset val="100"/>
        <c:noMultiLvlLbl val="0"/>
      </c:catAx>
      <c:valAx>
        <c:axId val="1276524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53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Tuesday</c:v>
                </c:pt>
                <c:pt idx="1">
                  <c:v>Sunday</c:v>
                </c:pt>
                <c:pt idx="2">
                  <c:v>Wednesday</c:v>
                </c:pt>
                <c:pt idx="3">
                  <c:v>Saturday</c:v>
                </c:pt>
                <c:pt idx="4">
                  <c:v>Thursday</c:v>
                </c:pt>
                <c:pt idx="5">
                  <c:v>Friday</c:v>
                </c:pt>
                <c:pt idx="6">
                  <c:v>Monday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54630.22</c:v>
                </c:pt>
                <c:pt idx="1">
                  <c:v>49704.6</c:v>
                </c:pt>
                <c:pt idx="2">
                  <c:v>47221.21</c:v>
                </c:pt>
                <c:pt idx="3">
                  <c:v>46842.79</c:v>
                </c:pt>
                <c:pt idx="4">
                  <c:v>45166.16</c:v>
                </c:pt>
                <c:pt idx="5">
                  <c:v>44352.87</c:v>
                </c:pt>
                <c:pt idx="6">
                  <c:v>35048.910000000003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0C-40BA-A6C7-1F89A3F4B2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56688127"/>
        <c:axId val="1056688607"/>
      </c:barChart>
      <c:catAx>
        <c:axId val="10566881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688607"/>
        <c:crosses val="autoZero"/>
        <c:auto val="1"/>
        <c:lblAlgn val="ctr"/>
        <c:lblOffset val="100"/>
        <c:noMultiLvlLbl val="0"/>
      </c:catAx>
      <c:valAx>
        <c:axId val="10566886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6881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0:51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1284 140 24523,'0'6'0,"-2"-1"0,0 1 0,-2-1 0,0 1 0,-2-1 0,0 0 0,-1 1 0,-2-1 0,0 0 0,-1 0 0,-1 0 0,-1 0 0,-1 0 0,0-1 0,-2 1 0,0-1 0,-1 0 0,-1 0 0,0 0 0,-1 0 0,-1 0 0,-1-1 0,0 1 0,0-1 0,-2 0 0,1 0 0,-2-1 0,1 1 0,-1-1 0,-1 0 0,0 0 0,0-1 0,0 1 0,-1-1 0,0 0 0,0-1 0,0 1 0,0-1 0,0 0 0,0 0 0,0 0 0,0-1 0,0 1 0,0-1 0,0 0 0,1-1 0,0 1 0,0-1 0,0 0 0,1 0 0,1-1 0,-1 1 0,2-1 0,-1 0 0,2 0 0,0-1 0,0 1 0,1-1 0,1 0 0,1 0 0,0 0 0,1 0 0,1 0 0,0-1 0,2 1 0,0-1 0,1 0 0,1 0 0,1 0 0,1 0 0,0 0 0,2-1 0,1 1 0,0 0 0,2-1 0,0 1 0,2-1 0,0 1 0,2-1 0,0 1 0,2-1 0,0 1 0,2-1 0,0 1 0,2 0 0,0-1 0,1 1 0,2 0 0,0 0 0,1 0 0,1 0 0,1 0 0,1 0 0,0 1 0,2-1 0,0 1 0,1-1 0,1 1 0,0 0 0,1 1 0,1-1 0,1 0 0,0 1 0,0 0 0,2 0 0,-1 0 0,2 1 0,-1-1 0,1 1 0,1 0 0,0 0 0,0 1 0,0-1 0,1 1 0,0 0 0,0 0 0,0 1 0,0 0 0,0-1 0,0 2 0,0-1 0,0 0 0,0 1 0,0 0 0,0 0 0,-1 1 0,0-1 0,0 1 0,0 0 0,-1 0 0,-1 1 0,1-1 0,-2 1 0,1 0 0,-2 0 0,0 0 0,0 1 0,-1 0 0,-1-1 0,-1 1 0,0 0 0,-1 1 0,-1-1 0,0 1 0,-2-1 0,0 1 0,-1 0 0,-1 0 0,-1 0 0,-1 0 0,0 0 0,-2 0 0,-1 1 0,0-1 0,-2 0 0,0 1 0,-2-1 0,0 1 0,-2-1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1:09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68 24550,'264'-38'0,"-703"8"0,614 98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1:22.3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277 43 24575,'7'-1'0,"0"0"0,0-1 0,-1 1 0,1-1 0,10-5 0,9-2 0,81-10 0,-153 26 0,1 3 0,-78 27 0,51-15 0,53-15 0,18-6 0,12-4 0,221-59 0,-203 51 0,-51 15 0,-20 7 0,16-5 0,-1 2 0,1 0 0,-27 14 0,105-25 0,68-10 0,-241 62 0,83-32 0,-79 24 0,141-48 0,43-22 0,1 0 0,19 2 0,-52 18 0,58-25 0,-136 40 0,-230 83 0,195-60 0,68-28 0,14-9 0,16-9 0,38-19 0,-34 23 0,-1-2 0,22-18 0,-44 31 0,-8 3 0,-10 6 0,-88 72 0,105-79 0,0 0 0,0 0 0,0 0 0,-1 0 0,1 0 0,0 0 0,0 0 0,-1 0 0,1 1 0,0-1 0,0 0 0,0 0 0,-1 0 0,1 0 0,0 0 0,0 1 0,0-1 0,0 0 0,-1 0 0,1 0 0,0 0 0,0 1 0,0-1 0,0 0 0,0 0 0,0 1 0,-1-1 0,1 0 0,0 0 0,0 0 0,0 1 0,0-1 0,0 0 0,0 0 0,0 1 0,0-1 0,0 0 0,0 0 0,0 1 0,0-1 0,1 0 0,-1 0 0,0 1 0,0-1 0,0 0 0,0 0 0,0 0 0,0 1 0,0-1 0,1 0 0,15 0 0,21-9 0,97-41 0,-159 61 0,0 2 0,1 0 0,-34 26 0,-26 14 0,278-145 0,-169 80 0,-19 9 0,-18 8 0,-22 15 0,0 1 0,1 1 0,-44 40 0,4-3 0,72-58 0,9-3 0,23-13 0,42-23 0,36-17 0,54-32 0,-157 81 0,-18 9 0,-23 9 0,-41 30 0,-91 64 0,199-125 0,37-16 0,-25 14 0,42-28 0,-163 87 0,-180 122 0,404-235 0,-53 29 0,-54 27 0,-22 11 0,-1 0 0,32-22 0,-97 49 0,-42 32 0,-87 66 0,59-36 0,236-148 0,39-27 0,80-51 0,-218 131 0,-20 11 0,-12 5 0,-3 4 0,0 0 0,-22 13 0,-19 8 0,57-27-28,0 0 1,0 0-1,0 0 0,0 0 0,-1 0 0,1 0 0,0 0 0,0 0 0,0 0 1,0 0-1,0 0 0,0 0 0,-1 0 0,1 0 0,0 0 0,0 0 1,0 0-1,0 0 0,0 0 0,0 0 0,-1 0 0,1 1 0,0-1 1,0 0-1,0 0 0,0 0 0,0 0 0,0 0 0,0 0 0,0 0 1,0 1-1,0-1 0,-1 0 0,1 0 0,0 0 0,0 0 0,0 0 0,0 1 1,0-1-1,0 0 0,0 0 0,0 0 0,0 0 0,0 0 0,0 1 1,0-1-1,0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2:19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580 6 24575,'53'0'0,"6"-1"0,1 2 0,105 16 0,-163-16 0,1-1 0,0 0 0,0 1 0,-1 0 0,1 0 0,-1 0 0,1 0 0,-1 0 0,1 0 0,-1 0 0,1 1 0,-1 0 0,0-1 0,0 1 0,0 0 0,0 0 0,0 0 0,0 0 0,-1 0 0,1 1 0,1 2 0,-3-5 0,0 1 0,0-1 0,0 1 0,0 0 0,0-1 0,0 1 0,0-1 0,-1 1 0,1-1 0,0 1 0,0-1 0,0 1 0,-1-1 0,1 0 0,0 1 0,-1-1 0,1 1 0,0-1 0,-1 0 0,1 1 0,-1-1 0,1 1 0,0-1 0,-1 0 0,1 0 0,-1 1 0,1-1 0,-1 0 0,-20 9 0,15-7 0,-268 82 0,-74 29 0,445-147 0,112-25 0,-45 14 0,-162 45 0,-1 0 0,0-1 0,1 1 0,-1 0 0,0-1 0,1 1 0,-1-1 0,0 0 0,1 1 0,-1-1 0,0 0 0,0 0 0,2-2 0,-3 3 0,0 0 0,0-1 0,0 1 0,0 0 0,0-1 0,-1 1 0,1 0 0,0-1 0,0 1 0,0 0 0,0-1 0,0 1 0,-1 0 0,1-1 0,0 1 0,0 0 0,-1 0 0,1-1 0,0 1 0,0 0 0,-1 0 0,1 0 0,0-1 0,-1 1 0,1 0 0,0 0 0,0 0 0,-1 0 0,1 0 0,0 0 0,-1 0 0,0-1 0,-45-9 0,45 10 0,-139-15 0,-217 4 0,264 10 0,-52 2 0,558-47 0,-352 37 0,84-11 0,-178 12 0,27 7 0,-95 0 0,90 2 0,-1 0 0,0 1 0,1 0 0,-1 1 0,1 0 0,-17 7 0,27-10 0,1 0 0,-1 0 0,1 1 0,-1-1 0,1 0 0,-1 0 0,0 1 0,1-1 0,-1 0 0,1 1 0,-1-1 0,1 0 0,0 1 0,-1-1 0,1 1 0,-1-1 0,1 1 0,0-1 0,-1 1 0,1-1 0,0 1 0,-1-1 0,1 1 0,0-1 0,0 2 0,11 5 0,31 0 0,-36-7 0,84 8 0,45 6 0,-185-18 0,-1 3 0,-51 4 0,27 0 0,74-3 0,4 1 0,14 2 0,24 2 0,-15-4 0,-9 1 0,0-1 0,0-1 0,0 0 0,1-2 0,-1 0 0,-1 0 0,26-9 0,-41 11 0,-1 0 0,1 0 0,-1 0 0,1 0 0,-1 0 0,1 0 0,-1 0 0,0 0 0,1-1 0,-1 1 0,1 0 0,-1 0 0,0 0 0,1-1 0,-1 1 0,0 0 0,1-1 0,-1 1 0,0 0 0,1-1 0,-1 1 0,0 0 0,0-1 0,1 1 0,-1-1 0,0 1 0,0 0 0,0-1 0,0 1 0,1-1 0,-1 1 0,0-1 0,0 1 0,0 0 0,0-1 0,0 1 0,0-1 0,0 1 0,0-1 0,-1 0 0,-16-12 0,-30-4 0,34 14 0,-10-3 0,24 4 0,16 1 0,260 2 0,-1117 14 0,964 24 0,-98-33-682,48 7-1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2:42.5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151 691 24575,'-2'-17'0,"0"-1"0,-1 1 0,-1-1 0,0 1 0,-8-17 0,-5-22 0,11 22 0,4 24 0,1 1 0,-1-1 0,-1 1 0,0 0 0,-5-14 0,6 27 0,0 1 0,1-1 0,-1 0 0,1 1 0,1-1 0,-2 5 0,2 155 0,1-202 0,0 24 0,0 0 0,-1-1 0,-4-21 0,-8 77 0,-2 16 0,-20 64 0,39-174 0,4 2 0,1-78 0,-8 149 0,0 18 0,-2-37 0,0-5 0,1-27 0,-1 25 0,0-14 0,3 19 0,1 13 0,51 192 0,-55-203 0,0 0 0,0 0 0,0 0 0,1 0 0,-1 0 0,0 0 0,1 0 0,-1 0 0,0 0 0,1 0 0,-1-1 0,1 1 0,-1 0 0,1 0 0,0 0 0,-1-1 0,1 1 0,1 0 0,-2-1 0,1 0 0,-1 0 0,0 0 0,1-1 0,-1 1 0,1 0 0,-1 0 0,0-1 0,1 1 0,-1 0 0,0-1 0,1 1 0,-1 0 0,0-1 0,1 1 0,-1-1 0,0 1 0,0 0 0,1-1 0,-1 1 0,0-1 0,0 1 0,0-1 0,0 0 0,9-37 0,-5-17 0,-2 0 0,-5-66 0,-1 122 0,-4 10 0,-6 13 0,-48 119 0,65-221 0,7-64 0,-21 227 0,5-39 0,-3 89 0,17-145 0,0-13 0,-25 80 0,8-34 0,-8 36 0,17-95 0,-1 31 0,1 0 0,-1 0 0,1 0 0,0 0 0,1 0 0,-1-1 0,3-7 0,-3 13 0,0 0 0,0 0 0,0 0 0,0-1 0,0 1 0,0 0 0,1 0 0,-1 0 0,0 0 0,0 0 0,0 0 0,0 0 0,0-1 0,0 1 0,1 0 0,-1 0 0,0 0 0,0 0 0,0 0 0,0 0 0,0 0 0,1 0 0,-1 0 0,0 0 0,0 0 0,0 0 0,0 0 0,1 0 0,-1 0 0,0 0 0,0 0 0,0 0 0,0 0 0,0 0 0,1 0 0,-1 0 0,0 0 0,0 0 0,0 0 0,0 1 0,0-1 0,0 0 0,1 0 0,-1 0 0,0 0 0,0 0 0,0 0 0,0 1 0,10 10 0,6 13 0,-14-20 0,8 13 0,-5-16 0,-1-10 0,1-27 0,-2-1 0,-2 1 0,-4-40 0,1 2 0,4 97 0,0-1 0,11 41 0,-4-19 0,-11-63 0,1 1 0,1-1 0,2-20 0,0-8 0,-2-139 0,0 572 0,0-394 0,1 0 0,0-1 0,1 1 0,4-14 0,3-13 0,6-54 0,5-174 0,-21 254 0,-3 9 0,-7 17 0,-8 31 0,-26 145 0,46-184 0,7-14 0,11-20 0,-18 23 0,64-92 0,-4-4 0,62-137 0,-113 211 0,-9 17 0,-6 13 0,-32 55 0,3 2 0,2 1 0,-27 82 0,56-139 0,1 0 0,0 0 0,0 0 0,1 0 0,0 0 0,0 1 0,1 6 0,0-13 0,0 0 0,0 0 0,0 0 0,1 0 0,-1 0 0,0 0 0,0 0 0,1 0 0,-1 0 0,1 0 0,-1 0 0,1 0 0,-1-1 0,1 1 0,0 0 0,-1 0 0,1-1 0,0 1 0,-1 0 0,1-1 0,0 1 0,1 0 0,-1 0 0,1-1 0,0 0 0,0 1 0,0-1 0,0 0 0,-1 0 0,1 0 0,0 0 0,0-1 0,0 1 0,0 0 0,-1-1 0,1 1 0,0-1 0,0 0 0,2-1 0,-3 2 0,-1-1 0,0 1 0,1 0 0,-1 0 0,0 0 0,1 0 0,-1 0 0,1-1 0,-1 1 0,0 0 0,1 0 0,-1 0 0,1 0 0,-1 0 0,1 0 0,-1 0 0,0 0 0,1 1 0,-1-1 0,1 0 0,-1 0 0,0 0 0,1 0 0,-1 0 0,1 1 0,-1-1 0,0 0 0,1 0 0,-1 1 0,0-1 0,1 0 0,-1 0 0,0 1 0,1 0 0,2 17 0,-8 31 0,3-41 0,-3 15 0,3-17 0,1 0 0,-1 0 0,1 1 0,0-1 0,1 1 0,0 6 0,13-27 0,2-11 0,-2 0 0,0-1 0,-2 0 0,-1-1 0,-1 0 0,7-36 0,-15 62 0,-1 0 0,0 0 0,0 1 0,1-1 0,-1 0 0,0 0 0,0 0 0,0 0 0,0 0 0,0 0 0,0 1 0,0-1 0,0 0 0,-1 0 0,1 0 0,0 0 0,-1 1 0,0-3 0,1 3 0,0 0 0,-1 0 0,1-1 0,-1 1 0,1 0 0,-1 0 0,1 0 0,-1 0 0,1 0 0,0 0 0,-1 0 0,1 0 0,-1 0 0,1 0 0,-1 0 0,1 0 0,0 1 0,-1-1 0,1 0 0,-1 0 0,1 0 0,-1 0 0,1 1 0,0-1 0,-1 1 0,-28 23 0,9 1 0,1 0 0,2 0 0,-23 43 0,-35 90 0,67-142 0,-7 20 0,13-28 0,11-26 0,10-23 0,-1-1 0,-2-1 0,-1-1 0,-3 0 0,12-80 0,-25 97 0,0 23 0,0 17 0,0 20 0,0-14 0,0 0 0,1 0 0,2 1 0,-1-1 0,2 0 0,7 24 0,-10-42 0,1 1 0,-1-1 0,1 0 0,0 1 0,0-1 0,0 0 0,-1 0 0,1 0 0,0 0 0,0 0 0,1 0 0,-1 0 0,0 0 0,0 0 0,0 0 0,1 0 0,-1-1 0,0 1 0,1-1 0,-1 1 0,1-1 0,-1 1 0,0-1 0,1 0 0,-1 1 0,1-1 0,-1 0 0,1 0 0,-1 0 0,1-1 0,-1 1 0,1 0 0,-1 0 0,1-1 0,-1 1 0,0-1 0,1 1 0,-1-1 0,2-1 0,2 0 0,0 0 0,0-1 0,0 0 0,0 0 0,-1 0 0,0-1 0,1 1 0,-1-1 0,4-5 0,-4 3 0,-1 0 0,0 1 0,0-1 0,0 0 0,0-1 0,-1 1 0,2-9 0,-3 12 0,-1 1 0,1 0 0,-1-1 0,0 1 0,0-1 0,1 1 0,-1-1 0,-1 1 0,1 0 0,0-1 0,-1 1 0,1 0 0,-1-1 0,0 1 0,0 0 0,1-1 0,-2 1 0,1 0 0,0 0 0,0 0 0,-1 0 0,1 0 0,-4-3 0,5 5 0,0 0 0,0 0 0,-1-1 0,1 1 0,0 0 0,0 0 0,-1 0 0,1-1 0,0 1 0,0 0 0,-1 0 0,1 0 0,0 0 0,-1 0 0,1 0 0,0 0 0,0 0 0,-1 0 0,1 0 0,0 0 0,-1 0 0,1 0 0,0 0 0,-1 0 0,1 0 0,0 0 0,-1 0 0,1 0 0,0 0 0,0 0 0,-1 0 0,1 1 0,0-1 0,0 0 0,-1 0 0,1 0 0,0 0 0,-1 1 0,-4 14 0,4 18 0,1-33 0,0 11 0,1 0 0,0 0 0,1-1 0,1 1 0,-1 0 0,2-1 0,-1 0 0,2 0 0,4 10 0,-7-17 0,0-1 0,-1 1 0,1-1 0,0 1 0,0-1 0,0 0 0,1 0 0,-1 0 0,0 0 0,1 0 0,-1-1 0,1 1 0,0-1 0,-1 0 0,5 2 0,-4-2 0,0-1 0,0 0 0,0 0 0,1 0 0,-1 0 0,0-1 0,0 1 0,0-1 0,0 1 0,0-1 0,-1 0 0,1 0 0,0 0 0,0-1 0,0 1 0,-1-1 0,1 0 0,3-2 0,-5 3 0,0 0 0,0 1 0,0-1 0,0 0 0,0 0 0,0 1 0,0-1 0,0 0 0,0 0 0,-1 0 0,1 0 0,0 0 0,-1 0 0,1-1 0,0 1 0,-1 0 0,1 0 0,-1 0 0,0 0 0,1-1 0,-1-1 0,0 1 0,-1 1 0,1 0 0,0 0 0,-1 0 0,1 0 0,-1 0 0,0 0 0,1 0 0,-1 0 0,0 0 0,1 0 0,-1 1 0,0-1 0,0 0 0,0 0 0,0 1 0,0-1 0,-2-1 0,-2 0 0,-1-1 0,0 1 0,0 0 0,0 0 0,0 1 0,0-1 0,-9 0 0,4 3 0,0-1 0,0 1 0,0 1 0,0 0 0,0 1 0,0 0 0,-20 9 0,27-11 0,0 1 0,0 0 0,0 0 0,0 0 0,0 0 0,0 0 0,1 1 0,-1 0 0,1 0 0,0 0 0,0 0 0,0 0 0,0 1 0,1-1 0,-1 1 0,1 0 0,0-1 0,0 1 0,0 0 0,1 0 0,-1 1 0,1-1 0,-1 5 0,2-8 0,0 0 0,0 0 0,0-1 0,0 1 0,0 0 0,0 0 0,0 0 0,0-1 0,1 1 0,-1 0 0,0 0 0,0-1 0,1 1 0,-1 0 0,0-1 0,1 1 0,-1 0 0,1-1 0,-1 1 0,1 0 0,-1-1 0,1 1 0,0-1 0,-1 1 0,1-1 0,0 1 0,-1-1 0,2 1 0,0-1 0,0 1 0,0-1 0,1 1 0,-1-1 0,0 0 0,0 0 0,1 0 0,-1 0 0,0 0 0,3-1 0,6-1 0,0-1 0,-1 0 0,12-5 0,-5 0 0,0 0 0,-1-1 0,0-1 0,29-23 0,-45 33 0,0 0 0,0 0 0,0 0 0,0 0 0,0 0 0,1 0 0,-1 0 0,0 0 0,0 0 0,0-1 0,0 1 0,0 0 0,0 0 0,1 0 0,-1 0 0,0 0 0,0 0 0,0 0 0,0 0 0,0-1 0,0 1 0,0 0 0,0 0 0,0 0 0,0 0 0,0 0 0,0-1 0,0 1 0,0 0 0,0 0 0,0 0 0,0 0 0,0 0 0,0-1 0,0 1 0,0 0 0,0 0 0,0 0 0,0 0 0,0 0 0,0-1 0,0 1 0,0 0 0,0 0 0,0 0 0,0 0 0,0 0 0,0 0 0,0-1 0,-1 1 0,1 0 0,0 0 0,0 0 0,0 0 0,0 0 0,0 0 0,-1 0 0,-12-2 0,-14 5 0,14 0 0,1 0 0,0 1 0,-20 9 0,29-11 0,-1 0 0,1 0 0,-1 0 0,1 0 0,0 0 0,-1 1 0,1 0 0,0-1 0,1 1 0,-1 0 0,1 0 0,-1 1 0,1-1 0,0 0 0,-3 8 0,5-11 0,-1 0 0,1 1 0,0-1 0,0 0 0,0 1 0,0-1 0,0 0 0,0 1 0,0-1 0,0 0 0,0 1 0,0-1 0,0 1 0,0-1 0,0 0 0,0 1 0,0-1 0,0 0 0,0 1 0,0-1 0,0 0 0,1 1 0,-1-1 0,0 0 0,0 1 0,0-1 0,0 0 0,1 0 0,-1 1 0,0-1 0,0 0 0,1 0 0,-1 1 0,0-1 0,1 0 0,15 0 0,15-10 0,-24 7 0,-1 0 0,1-1 0,-1 0 0,0 0 0,0 0 0,-1-1 0,1 0 0,-1 0 0,0 0 0,0-1 0,0 0 0,5-9 0,-10 14 0,0 1 0,0 0 0,1 0 0,-1 0 0,0-1 0,0 1 0,0 0 0,0 0 0,0 0 0,0-1 0,0 1 0,0 0 0,0 0 0,0-1 0,0 1 0,0 0 0,0 0 0,0-1 0,0 1 0,0 0 0,0 0 0,0 0 0,-1-1 0,1 1 0,0 0 0,0 0 0,0 0 0,0-1 0,0 1 0,0 0 0,-1 0 0,1 0 0,0 0 0,0-1 0,0 1 0,0 0 0,-1 0 0,1 0 0,0 0 0,0 0 0,-1 0 0,1 0 0,0 0 0,0 0 0,-1-1 0,-15 2 0,-15 6 0,27-5 0,1-1 0,-1 1 0,1 0 0,0-1 0,0 2 0,0-1 0,0 0 0,0 0 0,0 1 0,1 0 0,-1-1 0,1 1 0,0 0 0,-1 0 0,-1 5 0,3-6 0,1-1 0,-1 1 0,1 0 0,-1 0 0,1 0 0,0-1 0,0 1 0,0 0 0,0 0 0,0 0 0,0 0 0,0-1 0,1 1 0,-1 0 0,1 0 0,-1 0 0,1-1 0,-1 1 0,1 0 0,0-1 0,0 1 0,0 0 0,0-1 0,0 1 0,1-1 0,-1 0 0,0 1 0,0-1 0,1 0 0,-1 0 0,1 0 0,1 1 0,8 6 0,0-1 0,22 9 0,-30-14 0,0-1 0,0 0 0,0 0 0,0 0 0,0 0 0,1 0 0,-1 0 0,0-1 0,1 0 0,-1 0 0,0 0 0,1 0 0,-1 0 0,0 0 0,1-1 0,4-1 0,-8 2 0,1-1 0,0 1 0,-1 0 0,1-1 0,0 1 0,-1-1 0,1 1 0,-1-1 0,1 1 0,-1-1 0,1 1 0,-1-1 0,1 1 0,-1-1 0,0 0 0,1 1 0,-1-1 0,0 1 0,1-1 0,-1 0 0,0 0 0,0 1 0,0-1 0,0 0 0,0 1 0,0-3 0,-9-18 0,-24-12 0,19 22 0,0 1 0,-1 0 0,0 1 0,-1 1 0,0 0 0,0 2 0,-1-1 0,-28-5 0,45 12 0,-1 0 0,1-1 0,0 1 0,-1 0 0,1 0 0,0 0 0,-1 0 0,1 0 0,0 0 0,-1 0 0,1 0 0,-1 0 0,1 0 0,0 0 0,-1 0 0,1 0 0,0 0 0,-1 1 0,1-1 0,0 0 0,-1 0 0,1 0 0,0 0 0,-1 1 0,1-1 0,0 0 0,-1 0 0,1 1 0,0-1 0,0 0 0,-1 0 0,1 1 0,0-1 0,0 0 0,0 1 0,0-1 0,-1 0 0,1 1 0,0-1 0,0 1 0,4 19 0,15 16 0,-16-32 0,0-1 0,-1 0 0,1 0 0,0 0 0,1 0 0,-1 0 0,0-1 0,1 0 0,0 1 0,-1-1 0,1-1 0,0 1 0,0 0 0,0-1 0,9 2 0,-11-3 0,0 0 0,1-1 0,-1 1 0,1 0 0,-1-1 0,0 1 0,0-1 0,1 0 0,-1 0 0,0 0 0,0 0 0,0 0 0,0 0 0,0-1 0,0 1 0,0-1 0,0 1 0,-1-1 0,1 0 0,-1 0 0,1 1 0,-1-1 0,1 0 0,-1 0 0,0-1 0,0 1 0,0 0 0,0 0 0,0-4 0,1 1 0,-1 1 0,0-1 0,0 0 0,0 1 0,-1-1 0,1 0 0,-1 1 0,0-1 0,-1 0 0,1 0 0,-1 1 0,0-1 0,0 0 0,0 1 0,-1-1 0,1 1 0,-1 0 0,0-1 0,-1 1 0,1 0 0,-1 0 0,0 1 0,1-1 0,-2 0 0,1 1 0,0 0 0,-1-1 0,0 1 0,1 1 0,-1-1 0,-8-4 0,7 4 0,0 1 0,-1-1 0,1 1 0,-1 0 0,1 0 0,-1 0 0,1 1 0,-1 0 0,0 0 0,0 0 0,0 1 0,0 0 0,1 0 0,-1 0 0,0 1 0,0 0 0,0 0 0,1 1 0,-1-1 0,1 1 0,-1 0 0,1 1 0,-1 0 0,1-1 0,-8 7 0,6-3 0,1 1 0,-1-1 0,2 1 0,-1 1 0,1-1 0,0 1 0,0-1 0,1 1 0,0 1 0,0-1 0,1 0 0,0 1 0,1 0 0,0 0 0,0 0 0,1 0 0,0 0 0,0 0 0,2 10 0,-1-17 0,1 0 0,-1-1 0,1 1 0,-1 0 0,1 0 0,0-1 0,0 1 0,0 0 0,0-1 0,0 1 0,0-1 0,0 1 0,1-1 0,-1 0 0,0 1 0,1-1 0,-1 0 0,1 0 0,-1 0 0,1 0 0,0 0 0,-1 0 0,1-1 0,0 1 0,0-1 0,0 1 0,2 0 0,8 1 0,-1 0 0,0-1 0,15 0 0,-20-1 0,13 2 0,0-2 0,0 0 0,0-1 0,0-1 0,0-1 0,33-9 0,-51 11 0,1 0 0,-1 1 0,0-1 0,0 0 0,1 0 0,-1 0 0,0 0 0,0 0 0,0 0 0,0 0 0,0 0 0,0 0 0,0 0 0,0-1 0,0 1 0,-1 0 0,1-1 0,0 1 0,-1 0 0,1-1 0,-1 1 0,0-1 0,1 1 0,-1-1 0,0 1 0,0-1 0,0 1 0,0-1 0,0 1 0,0-1 0,0 1 0,-1-1 0,1 1 0,-1-1 0,1 1 0,-1 0 0,1-1 0,-1 1 0,0-1 0,-1-1 0,1 1 0,0-1 0,-1 1 0,1-1 0,-1 1 0,0 0 0,0 0 0,0-1 0,0 1 0,0 1 0,0-1 0,0 0 0,-1 0 0,1 1 0,-1 0 0,1-1 0,-1 1 0,1 0 0,-1 0 0,0 0 0,0 1 0,-4-2 0,3 2 0,-1 0 0,1 1 0,0-1 0,-1 1 0,1 0 0,0 0 0,0 0 0,-1 1 0,1-1 0,0 1 0,0 0 0,0 0 0,-3 3 0,5-3 0,1-1 0,0 1 0,-1 0 0,1-1 0,0 1 0,0 0 0,0 0 0,0-1 0,0 1 0,0 0 0,1 0 0,-1 0 0,1 0 0,-1 0 0,1 0 0,0 1 0,0-1 0,0 0 0,0 0 0,0 0 0,0 0 0,0 0 0,1 0 0,-1 0 0,1 0 0,0 0 0,-1 0 0,1 0 0,2 2 0,-1 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3:08.7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3:39.1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49 24575,'12'0'0,"1"0"0,0-1 0,-1-1 0,1 0 0,18-6 0,6-6 0,-29 12 0,-1 0 0,1 0 0,0 1 0,-1 0 0,1 0 0,0 1 0,0 0 0,0 1 0,9 1 0,13 0 0,-28-2-57,0 0 0,0 0 1,0 0-1,0 0 0,0 0 0,0 0 0,0 0 0,-1-1 0,1 1 0,0-1 0,0 1 1,0-1-1,-1 0 0,1 1 0,0-1 0,-1 0 0,1 0 0,0 0 0,-1-1 1,1 1-1,-1 0 0,0 0 0,2-3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12.2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14.0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16.5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18.2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19.5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20.9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3:14:22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5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59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02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1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33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84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4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5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5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5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64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7139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460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34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22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722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1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7303695-D068-4FD3-A92A-E7F0C9E6A559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D5EFC-D0F0-4451-895B-A883BD79C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47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" Type="http://schemas.openxmlformats.org/officeDocument/2006/relationships/customXml" Target="../ink/ink1.xml"/><Relationship Id="rId21" Type="http://schemas.openxmlformats.org/officeDocument/2006/relationships/customXml" Target="../ink/ink12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4.xml"/><Relationship Id="rId10" Type="http://schemas.openxmlformats.org/officeDocument/2006/relationships/image" Target="../media/image11.png"/><Relationship Id="rId19" Type="http://schemas.openxmlformats.org/officeDocument/2006/relationships/customXml" Target="../ink/ink10.xml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Relationship Id="rId22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zobKESNa4nebobe_TIoUeB5Z2PYnGV0c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091F-DE3C-FC94-B633-C58BDBECC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4F073-AFD4-BDCF-A150-8EBC7D267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EF8EE7-D9CC-480F-07D4-DD23AB36E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712"/>
            <a:ext cx="12192000" cy="5733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4F7532-8A8D-0E95-E185-CA42C81E0094}"/>
              </a:ext>
            </a:extLst>
          </p:cNvPr>
          <p:cNvSpPr txBox="1"/>
          <p:nvPr/>
        </p:nvSpPr>
        <p:spPr>
          <a:xfrm>
            <a:off x="82296" y="286476"/>
            <a:ext cx="8110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0.1 Checking if data is clean or not.</a:t>
            </a:r>
          </a:p>
        </p:txBody>
      </p:sp>
    </p:spTree>
    <p:extLst>
      <p:ext uri="{BB962C8B-B14F-4D97-AF65-F5344CB8AC3E}">
        <p14:creationId xmlns:p14="http://schemas.microsoft.com/office/powerpoint/2010/main" val="346330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3B67-5FB7-1482-347B-A2B79C37D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0DF7C-3D45-90F8-8829-A265A402A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12"/>
            <a:ext cx="12191999" cy="5733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57CCD-F910-7409-70E8-7EE39289A5D8}"/>
              </a:ext>
            </a:extLst>
          </p:cNvPr>
          <p:cNvSpPr txBox="1"/>
          <p:nvPr/>
        </p:nvSpPr>
        <p:spPr>
          <a:xfrm>
            <a:off x="82295" y="286476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0.2 Creating Table to import data from excel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5D7F1E-441B-AF63-5514-1DD03C717242}"/>
                  </a:ext>
                </a:extLst>
              </p14:cNvPr>
              <p14:cNvContentPartPr/>
              <p14:nvPr/>
            </p14:nvContentPartPr>
            <p14:xfrm>
              <a:off x="2585460" y="1733550"/>
              <a:ext cx="462600" cy="10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5D7F1E-441B-AF63-5514-1DD03C7172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980" y="1727430"/>
                <a:ext cx="4748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5F9953-D138-8B2A-3255-C1FF427C74A2}"/>
                  </a:ext>
                </a:extLst>
              </p14:cNvPr>
              <p14:cNvContentPartPr/>
              <p14:nvPr/>
            </p14:nvContentPartPr>
            <p14:xfrm rot="9271109">
              <a:off x="2797465" y="1759769"/>
              <a:ext cx="158110" cy="24602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5F9953-D138-8B2A-3255-C1FF427C74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9271109">
                <a:off x="2791356" y="1753708"/>
                <a:ext cx="170328" cy="36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5F783D8-4D10-F479-F5BF-76E4D8130315}"/>
                  </a:ext>
                </a:extLst>
              </p14:cNvPr>
              <p14:cNvContentPartPr/>
              <p14:nvPr/>
            </p14:nvContentPartPr>
            <p14:xfrm>
              <a:off x="2696700" y="1723830"/>
              <a:ext cx="191520" cy="140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5F783D8-4D10-F479-F5BF-76E4D81303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90580" y="1717710"/>
                <a:ext cx="2037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43D7EF9-86EE-562A-FAB8-8D48E2C126B1}"/>
                  </a:ext>
                </a:extLst>
              </p14:cNvPr>
              <p14:cNvContentPartPr/>
              <p14:nvPr/>
            </p14:nvContentPartPr>
            <p14:xfrm>
              <a:off x="2719380" y="1725630"/>
              <a:ext cx="348840" cy="100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43D7EF9-86EE-562A-FAB8-8D48E2C126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3260" y="1719510"/>
                <a:ext cx="3610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6105F85-59D0-9539-9EDD-121618BB5655}"/>
                  </a:ext>
                </a:extLst>
              </p14:cNvPr>
              <p14:cNvContentPartPr/>
              <p14:nvPr/>
            </p14:nvContentPartPr>
            <p14:xfrm>
              <a:off x="2425980" y="1558950"/>
              <a:ext cx="158400" cy="273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6105F85-59D0-9539-9EDD-121618BB56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19860" y="1552830"/>
                <a:ext cx="170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68A208-4AEB-269F-D5C0-F37C324E4149}"/>
                  </a:ext>
                </a:extLst>
              </p14:cNvPr>
              <p14:cNvContentPartPr/>
              <p14:nvPr/>
            </p14:nvContentPartPr>
            <p14:xfrm>
              <a:off x="2514540" y="176595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68A208-4AEB-269F-D5C0-F37C324E414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51540" y="170295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B87C136-4A57-8AA5-1D4D-0DA829742478}"/>
                  </a:ext>
                </a:extLst>
              </p14:cNvPr>
              <p14:cNvContentPartPr/>
              <p14:nvPr/>
            </p14:nvContentPartPr>
            <p14:xfrm>
              <a:off x="2823060" y="1736790"/>
              <a:ext cx="105480" cy="17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B87C136-4A57-8AA5-1D4D-0DA8297424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60420" y="1674150"/>
                <a:ext cx="23112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3B1ED45-8FE2-4386-E478-88D8CC0B57C2}"/>
              </a:ext>
            </a:extLst>
          </p:cNvPr>
          <p:cNvGrpSpPr/>
          <p:nvPr/>
        </p:nvGrpSpPr>
        <p:grpSpPr>
          <a:xfrm>
            <a:off x="3072540" y="1733550"/>
            <a:ext cx="623520" cy="15480"/>
            <a:chOff x="3072540" y="1733550"/>
            <a:chExt cx="623520" cy="1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6AF287-8E6B-26CC-374D-E9075F11BF50}"/>
                    </a:ext>
                  </a:extLst>
                </p14:cNvPr>
                <p14:cNvContentPartPr/>
                <p14:nvPr/>
              </p14:nvContentPartPr>
              <p14:xfrm>
                <a:off x="3072540" y="173355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6AF287-8E6B-26CC-374D-E9075F11BF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09900" y="16705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736B68D-49EF-25BF-C4D6-132DCD13E083}"/>
                    </a:ext>
                  </a:extLst>
                </p14:cNvPr>
                <p14:cNvContentPartPr/>
                <p14:nvPr/>
              </p14:nvContentPartPr>
              <p14:xfrm>
                <a:off x="3158220" y="1741110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736B68D-49EF-25BF-C4D6-132DCD13E0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95580" y="16781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3F685E-4575-EB17-F147-B3299546A921}"/>
                    </a:ext>
                  </a:extLst>
                </p14:cNvPr>
                <p14:cNvContentPartPr/>
                <p14:nvPr/>
              </p14:nvContentPartPr>
              <p14:xfrm>
                <a:off x="3257580" y="173895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3F685E-4575-EB17-F147-B3299546A9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94580" y="16763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0D5FF8-4981-D2B7-58E6-998267E61E6C}"/>
                    </a:ext>
                  </a:extLst>
                </p14:cNvPr>
                <p14:cNvContentPartPr/>
                <p14:nvPr/>
              </p14:nvContentPartPr>
              <p14:xfrm>
                <a:off x="3364140" y="174111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0D5FF8-4981-D2B7-58E6-998267E61E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01140" y="16781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48AD23-D7A1-7D8B-2AC8-8C30FE9F9DC0}"/>
                    </a:ext>
                  </a:extLst>
                </p14:cNvPr>
                <p14:cNvContentPartPr/>
                <p14:nvPr/>
              </p14:nvContentPartPr>
              <p14:xfrm>
                <a:off x="3495540" y="174867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48AD23-D7A1-7D8B-2AC8-8C30FE9F9D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32540" y="168567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B48392-478D-DFD7-F89C-30BAA67BDE8D}"/>
                    </a:ext>
                  </a:extLst>
                </p14:cNvPr>
                <p14:cNvContentPartPr/>
                <p14:nvPr/>
              </p14:nvContentPartPr>
              <p14:xfrm>
                <a:off x="3596340" y="174687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B48392-478D-DFD7-F89C-30BAA67BDE8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33700" y="168387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50A5826-DC5A-24D8-F3DA-DC1E4EA6F13C}"/>
                    </a:ext>
                  </a:extLst>
                </p14:cNvPr>
                <p14:cNvContentPartPr/>
                <p14:nvPr/>
              </p14:nvContentPartPr>
              <p14:xfrm>
                <a:off x="3695700" y="174291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50A5826-DC5A-24D8-F3DA-DC1E4EA6F1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32700" y="168027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708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A51D1-157A-E81C-45AD-2A8522884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255"/>
            <a:ext cx="3328415" cy="571974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FDDF8-FF7C-4240-F5E5-410833594139}"/>
              </a:ext>
            </a:extLst>
          </p:cNvPr>
          <p:cNvSpPr txBox="1"/>
          <p:nvPr/>
        </p:nvSpPr>
        <p:spPr>
          <a:xfrm>
            <a:off x="82295" y="298051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0.3 Importing data from excel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BD55B3-6958-ED26-568D-9F5E6AEFC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415" y="1138254"/>
            <a:ext cx="8863584" cy="571974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7647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B1B8-9B39-8071-C695-E0A2E933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375611-9A95-2DED-6A12-4D0E6EE24701}"/>
              </a:ext>
            </a:extLst>
          </p:cNvPr>
          <p:cNvSpPr txBox="1"/>
          <p:nvPr/>
        </p:nvSpPr>
        <p:spPr>
          <a:xfrm>
            <a:off x="82295" y="299785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1: Identifying the Top Branch by Sales Growth Rate 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53CBC-6898-6013-EB38-8ED3C9A1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064" y="1117904"/>
            <a:ext cx="3484935" cy="259756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BDEFBA-B4A7-011F-84D3-F3FA1E3EE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7905"/>
            <a:ext cx="8707064" cy="259756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CCD321-2646-747D-EE57-76159CFFA403}"/>
              </a:ext>
            </a:extLst>
          </p:cNvPr>
          <p:cNvSpPr txBox="1"/>
          <p:nvPr/>
        </p:nvSpPr>
        <p:spPr>
          <a:xfrm>
            <a:off x="394812" y="6313041"/>
            <a:ext cx="11990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top branch according to 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AvgGrowthRate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is Branch B with 12.24% growth.</a:t>
            </a:r>
            <a:endParaRPr lang="en-IN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55E9D16-70CA-8956-1207-DCCF6A5ED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4194495"/>
              </p:ext>
            </p:extLst>
          </p:nvPr>
        </p:nvGraphicFramePr>
        <p:xfrm>
          <a:off x="1094825" y="3715473"/>
          <a:ext cx="9722734" cy="2679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4824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ACE0-2CCF-3578-6740-6FA1F082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CF42A-F462-F034-CBBF-8106B5DDD7C7}"/>
              </a:ext>
            </a:extLst>
          </p:cNvPr>
          <p:cNvSpPr txBox="1"/>
          <p:nvPr/>
        </p:nvSpPr>
        <p:spPr>
          <a:xfrm>
            <a:off x="140168" y="153782"/>
            <a:ext cx="101067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2: Finding the Most Profitable Product Line for Each Branch.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EB062-8CB5-0E80-9014-A59CB6D49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131" y="1107889"/>
            <a:ext cx="4672361" cy="221655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061C19-D203-7F3B-004C-48DE6782E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07" y="3324440"/>
            <a:ext cx="4672361" cy="353356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42F8F93-D20F-31B9-AAA9-D7535E34A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0665376"/>
              </p:ext>
            </p:extLst>
          </p:nvPr>
        </p:nvGraphicFramePr>
        <p:xfrm>
          <a:off x="30508" y="1107888"/>
          <a:ext cx="7428115" cy="4541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30C94E-BE8C-0949-20CD-1E4890321953}"/>
              </a:ext>
            </a:extLst>
          </p:cNvPr>
          <p:cNvSpPr txBox="1"/>
          <p:nvPr/>
        </p:nvSpPr>
        <p:spPr>
          <a:xfrm>
            <a:off x="140168" y="5680304"/>
            <a:ext cx="7348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most profitable product lines are Home and lifestyle for Branch A, Sports and travel for Branch B, and Food and beverages for Branch C.</a:t>
            </a:r>
            <a:endParaRPr lang="en-IN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98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9D9F-4CC0-FF32-7244-16E704A5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F9F91-DA54-36AD-52B1-AEA61B3B1B28}"/>
              </a:ext>
            </a:extLst>
          </p:cNvPr>
          <p:cNvSpPr txBox="1"/>
          <p:nvPr/>
        </p:nvSpPr>
        <p:spPr>
          <a:xfrm>
            <a:off x="140168" y="153782"/>
            <a:ext cx="101067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3: Analyzing Customer Segmentation Based on Spending. 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B7042-153C-E78C-1360-88FD0A1B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7" t="13678" b="8195"/>
          <a:stretch>
            <a:fillRect/>
          </a:stretch>
        </p:blipFill>
        <p:spPr>
          <a:xfrm>
            <a:off x="7904808" y="1107889"/>
            <a:ext cx="4287192" cy="14890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F3E057-7CDF-2C07-73FC-84FB95B3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08" y="2596897"/>
            <a:ext cx="4287193" cy="4261103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0B49FDB-BE79-862F-D7DD-EDE73F969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39264"/>
              </p:ext>
            </p:extLst>
          </p:nvPr>
        </p:nvGraphicFramePr>
        <p:xfrm>
          <a:off x="0" y="1333499"/>
          <a:ext cx="7808976" cy="4486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3151010-D5A9-E04B-CA83-2853953F7640}"/>
              </a:ext>
            </a:extLst>
          </p:cNvPr>
          <p:cNvSpPr txBox="1"/>
          <p:nvPr/>
        </p:nvSpPr>
        <p:spPr>
          <a:xfrm>
            <a:off x="140168" y="5820212"/>
            <a:ext cx="7549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Customer 8, 3, 2, 15 and 1 stands out as the top spender, ideal for loyalty targeting and premium offers.</a:t>
            </a:r>
            <a:endParaRPr lang="en-IN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91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8E89-972F-79E2-35F4-C26AD3FA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945503-58A4-5C15-6C3F-65086E05F81E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4: Detecting Anomalies in Sales Transactions.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647A9-0F56-FE9F-AB44-344975EF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32900"/>
            <a:ext cx="4511040" cy="20309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03012D-A273-529A-3149-BCA6978CE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163824"/>
            <a:ext cx="4511040" cy="3694176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FB99726-A236-00A2-51FD-845A8A77AE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850708"/>
              </p:ext>
            </p:extLst>
          </p:nvPr>
        </p:nvGraphicFramePr>
        <p:xfrm>
          <a:off x="438912" y="677003"/>
          <a:ext cx="6977888" cy="4667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67CBE93-D8C1-4BF7-2374-B2E2DBFF51F8}"/>
              </a:ext>
            </a:extLst>
          </p:cNvPr>
          <p:cNvSpPr txBox="1"/>
          <p:nvPr/>
        </p:nvSpPr>
        <p:spPr>
          <a:xfrm>
            <a:off x="264160" y="5344160"/>
            <a:ext cx="7152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Using z-score logic, we flagged high anomalies in sales across six product lines, with Food and beverages shows the highest deviation at 12.23%.</a:t>
            </a:r>
            <a:endParaRPr lang="en-IN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9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780D-BCA5-E490-4D01-F6153975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822367-EB94-CC43-9BCC-34707F53DF56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5: Most Popular Payment Method by City.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D269AC-C1D1-374B-B793-A1204E45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670" y="1152377"/>
            <a:ext cx="5049329" cy="203199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1FAD1-BB90-13ED-F569-5D787AB1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670" y="3184376"/>
            <a:ext cx="5049330" cy="1865143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804C35B-E672-3DC4-8E94-457010B37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001544"/>
              </p:ext>
            </p:extLst>
          </p:nvPr>
        </p:nvGraphicFramePr>
        <p:xfrm>
          <a:off x="140169" y="995679"/>
          <a:ext cx="6900712" cy="4053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0F6440-28ED-1826-B33E-E0F23F048418}"/>
              </a:ext>
            </a:extLst>
          </p:cNvPr>
          <p:cNvSpPr txBox="1"/>
          <p:nvPr/>
        </p:nvSpPr>
        <p:spPr>
          <a:xfrm>
            <a:off x="362331" y="5705623"/>
            <a:ext cx="11467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Ewallet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emerged as the most preferred payment method in Mandalay and Yangon, while Naypyitaw showed a strong preference for Cash.</a:t>
            </a:r>
            <a:endParaRPr lang="en-IN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225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F1E2-444D-55E1-D70F-AB812C30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FA43F-1AE6-46B2-D147-7DE0C2CD8308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6: Monthly Sales Distribution by Gender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830A8-D709-6A12-CEE6-850121B5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53" t="10803" b="14984"/>
          <a:stretch>
            <a:fillRect/>
          </a:stretch>
        </p:blipFill>
        <p:spPr>
          <a:xfrm>
            <a:off x="8743950" y="1131315"/>
            <a:ext cx="3448051" cy="1714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6D092-99E6-EF79-477D-F85586B2B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49" y="2846181"/>
            <a:ext cx="3448051" cy="401182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FD870A3-4DDE-8670-63EB-1B3409D0C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96" y="5688555"/>
            <a:ext cx="86771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Female customers dominated sales in January and March.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Male customers led in February and April.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Sales tapered off in later months, with gender preferences shifting.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4E6CB42-B85C-AD0E-1A7E-EF62A5604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8594255"/>
              </p:ext>
            </p:extLst>
          </p:nvPr>
        </p:nvGraphicFramePr>
        <p:xfrm>
          <a:off x="249896" y="728842"/>
          <a:ext cx="7655854" cy="5271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95456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79A8-E57F-7881-F3B1-69CBC496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81CAB-6634-FDD5-B999-0E6318CFF27A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7: Best Product Line by Customer Type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ABAC8-C9D0-F16C-7895-F77BEB13A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072" y="3986219"/>
            <a:ext cx="4134928" cy="287178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7FC5B-E9C2-3345-DF4D-363D7FF0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872" y="5069308"/>
            <a:ext cx="3747200" cy="17886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5239DA-90D1-FF19-DDEC-943FA22A0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071" y="1034240"/>
            <a:ext cx="4134929" cy="25811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535BAA-84A6-9696-08FB-C3E54BA9E4B7}"/>
              </a:ext>
            </a:extLst>
          </p:cNvPr>
          <p:cNvSpPr txBox="1"/>
          <p:nvPr/>
        </p:nvSpPr>
        <p:spPr>
          <a:xfrm>
            <a:off x="4398264" y="4727949"/>
            <a:ext cx="55252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Best Product Line by Customer Type</a:t>
            </a:r>
            <a:endParaRPr lang="en-IN" sz="1600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55AB8-D2F2-FB02-912F-861FE788166E}"/>
              </a:ext>
            </a:extLst>
          </p:cNvPr>
          <p:cNvSpPr txBox="1"/>
          <p:nvPr/>
        </p:nvSpPr>
        <p:spPr>
          <a:xfrm>
            <a:off x="8358824" y="3663194"/>
            <a:ext cx="4008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All Product Line by Customer Type</a:t>
            </a:r>
            <a:endParaRPr lang="en-IN" sz="1600" u="sng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169E9A6-41C9-FE5F-7B8F-D38CB71864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939665"/>
              </p:ext>
            </p:extLst>
          </p:nvPr>
        </p:nvGraphicFramePr>
        <p:xfrm>
          <a:off x="0" y="1145497"/>
          <a:ext cx="4398264" cy="5712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AE7AB9F-8242-2247-05C6-CEB5F36109E1}"/>
              </a:ext>
            </a:extLst>
          </p:cNvPr>
          <p:cNvSpPr txBox="1"/>
          <p:nvPr/>
        </p:nvSpPr>
        <p:spPr>
          <a:xfrm>
            <a:off x="4504595" y="1778980"/>
            <a:ext cx="3446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Members favored Food and beverages, while Normal customers spent most on Electronic Accessories with Total sales of 31357rs and 29839rs respectively.</a:t>
            </a:r>
            <a:endParaRPr lang="en-IN" sz="1600" b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51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BA50-BBC9-3FC0-34B5-A8209831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5D624-F9D1-7F20-E2E6-B47C74DF7867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8: </a:t>
            </a:r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Identifying Repeat Customers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FFFA7-0177-4853-4890-6E1FD20800E7}"/>
              </a:ext>
            </a:extLst>
          </p:cNvPr>
          <p:cNvSpPr txBox="1"/>
          <p:nvPr/>
        </p:nvSpPr>
        <p:spPr>
          <a:xfrm>
            <a:off x="639718" y="5948044"/>
            <a:ext cx="79647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These are the number of purchases made by all the customers in the month of January.</a:t>
            </a:r>
            <a:endParaRPr lang="en-IN" sz="2000" b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A372F8-E394-FE81-C307-9CC1DA7B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7" b="9117"/>
          <a:stretch>
            <a:fillRect/>
          </a:stretch>
        </p:blipFill>
        <p:spPr>
          <a:xfrm>
            <a:off x="8339328" y="1102887"/>
            <a:ext cx="3852672" cy="140256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31A4FD-1908-7EC2-F29F-03DF06D3F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505456"/>
            <a:ext cx="2883408" cy="4352544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A70538B-1C68-214B-9195-9A6E4376D2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369008"/>
              </p:ext>
            </p:extLst>
          </p:nvPr>
        </p:nvGraphicFramePr>
        <p:xfrm>
          <a:off x="276352" y="811378"/>
          <a:ext cx="8128000" cy="5064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1686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05B5-3A55-A392-8B41-A8B3348F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C376D3-6763-D90D-5686-0D6186D1CD81}"/>
              </a:ext>
            </a:extLst>
          </p:cNvPr>
          <p:cNvSpPr txBox="1"/>
          <p:nvPr/>
        </p:nvSpPr>
        <p:spPr>
          <a:xfrm>
            <a:off x="140168" y="153782"/>
            <a:ext cx="1010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9: </a:t>
            </a:r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Finding Top 5 Customers by Sales Volume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37D96-74EF-5515-A09D-F756DD0DF8EB}"/>
              </a:ext>
            </a:extLst>
          </p:cNvPr>
          <p:cNvSpPr txBox="1"/>
          <p:nvPr/>
        </p:nvSpPr>
        <p:spPr>
          <a:xfrm>
            <a:off x="652328" y="6010478"/>
            <a:ext cx="10741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Customers 8, 3, 2, 15 and 1 are the top buyers in terms of Sales Volume.</a:t>
            </a:r>
            <a:endParaRPr lang="en-IN" sz="2400" b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4628F51-16D5-E360-AA55-4975CCAFA6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4430205"/>
              </p:ext>
            </p:extLst>
          </p:nvPr>
        </p:nvGraphicFramePr>
        <p:xfrm>
          <a:off x="276352" y="811378"/>
          <a:ext cx="8128000" cy="5064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CAC4197-DBF5-27CC-F57F-D6DF579C4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51" y="1156396"/>
            <a:ext cx="3690350" cy="211346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78C4B-4BA5-D0D3-B077-EDEE65B96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287" y="3010303"/>
            <a:ext cx="3689714" cy="253096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0569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F9AF-8868-8EF0-C4DD-6755E2BD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D899E-D547-0092-779B-A0FECA237C3D}"/>
              </a:ext>
            </a:extLst>
          </p:cNvPr>
          <p:cNvSpPr txBox="1"/>
          <p:nvPr/>
        </p:nvSpPr>
        <p:spPr>
          <a:xfrm>
            <a:off x="140168" y="153782"/>
            <a:ext cx="1022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Task 10: </a:t>
            </a:r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Analyzing Sales Trends by Day of the Week</a:t>
            </a:r>
            <a:endParaRPr lang="en-IN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27A3F-2E14-6283-7653-748A2959914F}"/>
              </a:ext>
            </a:extLst>
          </p:cNvPr>
          <p:cNvSpPr txBox="1"/>
          <p:nvPr/>
        </p:nvSpPr>
        <p:spPr>
          <a:xfrm>
            <a:off x="652328" y="6133333"/>
            <a:ext cx="10741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Between all the days, Tuesday brings the highest sales of all.</a:t>
            </a:r>
            <a:endParaRPr lang="en-IN" sz="2000" b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369A0-5197-87C1-6560-5C7F6C40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08"/>
          <a:stretch>
            <a:fillRect/>
          </a:stretch>
        </p:blipFill>
        <p:spPr>
          <a:xfrm>
            <a:off x="8502286" y="1146216"/>
            <a:ext cx="3689714" cy="1685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966FFB-646E-7AC7-64BA-96AED5350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931" y="2832067"/>
            <a:ext cx="2608069" cy="2581181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33AB306-E2A7-173B-DCCF-433283487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899005"/>
              </p:ext>
            </p:extLst>
          </p:nvPr>
        </p:nvGraphicFramePr>
        <p:xfrm>
          <a:off x="384048" y="1073064"/>
          <a:ext cx="8118238" cy="4864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1808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E421-60F3-7A2F-637F-321EC5A7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662" y="1703548"/>
            <a:ext cx="9360529" cy="3739720"/>
          </a:xfrm>
        </p:spPr>
        <p:txBody>
          <a:bodyPr/>
          <a:lstStyle/>
          <a:p>
            <a:r>
              <a:rPr lang="en-IN" sz="8000" dirty="0">
                <a:hlinkClick r:id="rId2"/>
              </a:rPr>
              <a:t>Project explanation Video</a:t>
            </a:r>
            <a:endParaRPr lang="en-IN" sz="8000" dirty="0"/>
          </a:p>
        </p:txBody>
      </p:sp>
      <p:sp>
        <p:nvSpPr>
          <p:cNvPr id="4" name="Arrow: Bent 3">
            <a:extLst>
              <a:ext uri="{FF2B5EF4-FFF2-40B4-BE49-F238E27FC236}">
                <a16:creationId xmlns:a16="http://schemas.microsoft.com/office/drawing/2014/main" id="{5EA13FBD-51A8-2812-6A7F-AE1F3B0B8C4E}"/>
              </a:ext>
            </a:extLst>
          </p:cNvPr>
          <p:cNvSpPr/>
          <p:nvPr/>
        </p:nvSpPr>
        <p:spPr>
          <a:xfrm rot="16200000">
            <a:off x="5043141" y="4271513"/>
            <a:ext cx="652732" cy="53483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D8894-E67D-9FF9-F451-463859D41DF4}"/>
              </a:ext>
            </a:extLst>
          </p:cNvPr>
          <p:cNvSpPr txBox="1"/>
          <p:nvPr/>
        </p:nvSpPr>
        <p:spPr>
          <a:xfrm>
            <a:off x="5596168" y="4588623"/>
            <a:ext cx="238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CTRL+CLICK</a:t>
            </a:r>
          </a:p>
        </p:txBody>
      </p:sp>
    </p:spTree>
    <p:extLst>
      <p:ext uri="{BB962C8B-B14F-4D97-AF65-F5344CB8AC3E}">
        <p14:creationId xmlns:p14="http://schemas.microsoft.com/office/powerpoint/2010/main" val="1999322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17548</TotalTime>
  <Words>417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explanation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😉</dc:creator>
  <cp:lastModifiedBy>Akhil 😉</cp:lastModifiedBy>
  <cp:revision>12</cp:revision>
  <dcterms:created xsi:type="dcterms:W3CDTF">2025-09-28T22:32:53Z</dcterms:created>
  <dcterms:modified xsi:type="dcterms:W3CDTF">2025-10-23T00:03:48Z</dcterms:modified>
</cp:coreProperties>
</file>